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2" r:id="rId6"/>
    <p:sldId id="266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CFEE"/>
    <a:srgbClr val="EBDA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471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06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225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765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391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864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083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7635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589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338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23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786E8-2011-4FE2-BE35-59E0513746B4}" type="datetimeFigureOut">
              <a:rPr lang="en-SG" smtClean="0"/>
              <a:t>26/7/2025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5A841-9A4E-4096-A7EE-8FF37EA274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2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0790" y="271574"/>
            <a:ext cx="10750163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>
                <a:latin typeface="Bell MT" panose="02020503060305020303" pitchFamily="18" charset="0"/>
              </a:rPr>
              <a:t>Project 1 - Product Thinking</a:t>
            </a:r>
            <a:endParaRPr lang="en-SG" sz="6600" dirty="0">
              <a:latin typeface="Bell MT" panose="020205030603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41109" y="5515896"/>
            <a:ext cx="3097161" cy="521111"/>
          </a:xfrm>
        </p:spPr>
        <p:txBody>
          <a:bodyPr/>
          <a:lstStyle/>
          <a:p>
            <a:r>
              <a:rPr lang="en-US" dirty="0" err="1" smtClean="0"/>
              <a:t>Felci</a:t>
            </a:r>
            <a:r>
              <a:rPr lang="en-US" dirty="0" smtClean="0"/>
              <a:t> Joan</a:t>
            </a:r>
            <a:endParaRPr lang="en-SG" dirty="0"/>
          </a:p>
        </p:txBody>
      </p:sp>
      <p:sp>
        <p:nvSpPr>
          <p:cNvPr id="7" name="Rectangle 6"/>
          <p:cNvSpPr/>
          <p:nvPr/>
        </p:nvSpPr>
        <p:spPr>
          <a:xfrm>
            <a:off x="3608867" y="3168556"/>
            <a:ext cx="56613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dirty="0" smtClean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Bahnschrift SemiLight" panose="020B0502040204020203" pitchFamily="34" charset="0"/>
              </a:rPr>
              <a:t>PackBuddy</a:t>
            </a:r>
            <a:endParaRPr lang="en-US" sz="7200" dirty="0">
              <a:ln w="0"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  <a:latin typeface="Bahnschrift SemiLight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9982" r="8755"/>
          <a:stretch/>
        </p:blipFill>
        <p:spPr>
          <a:xfrm>
            <a:off x="2433099" y="3228968"/>
            <a:ext cx="1367624" cy="132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7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latin typeface="Bell MT" panose="02020503060305020303" pitchFamily="18" charset="0"/>
              </a:rPr>
              <a:t>Problem Statement: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 smtClean="0">
                <a:latin typeface="Bell MT" panose="02020503060305020303" pitchFamily="18" charset="0"/>
              </a:rPr>
              <a:t>	</a:t>
            </a:r>
            <a:r>
              <a:rPr lang="en-US" dirty="0">
                <a:latin typeface="Goudy Old Style" panose="02020502050305020303" pitchFamily="18" charset="0"/>
              </a:rPr>
              <a:t>Frequent travelers often face last-minute stress and anxiety while packing due to forgotten items, </a:t>
            </a:r>
            <a:r>
              <a:rPr lang="en-US" dirty="0" smtClean="0">
                <a:latin typeface="Goudy Old Style" panose="02020502050305020303" pitchFamily="18" charset="0"/>
              </a:rPr>
              <a:t>over packing, </a:t>
            </a:r>
            <a:r>
              <a:rPr lang="en-US" dirty="0">
                <a:latin typeface="Goudy Old Style" panose="02020502050305020303" pitchFamily="18" charset="0"/>
              </a:rPr>
              <a:t>or inefficient list management. Existing solutions are either too generic or lack personalization based on destination, </a:t>
            </a:r>
            <a:r>
              <a:rPr lang="en-US" dirty="0" smtClean="0">
                <a:latin typeface="Goudy Old Style" panose="02020502050305020303" pitchFamily="18" charset="0"/>
              </a:rPr>
              <a:t>weather or </a:t>
            </a:r>
            <a:r>
              <a:rPr lang="en-US" dirty="0">
                <a:latin typeface="Goudy Old Style" panose="02020502050305020303" pitchFamily="18" charset="0"/>
              </a:rPr>
              <a:t>trip type</a:t>
            </a:r>
            <a:r>
              <a:rPr lang="en-US" dirty="0" smtClean="0">
                <a:latin typeface="Goudy Old Style" panose="02020502050305020303" pitchFamily="18" charset="0"/>
              </a:rPr>
              <a:t>.</a:t>
            </a:r>
          </a:p>
          <a:p>
            <a:pPr marL="0" indent="0">
              <a:buNone/>
            </a:pPr>
            <a:endParaRPr lang="en-SG" dirty="0">
              <a:latin typeface="Goudy Old Style" panose="02020502050305020303" pitchFamily="18" charset="0"/>
            </a:endParaRPr>
          </a:p>
          <a:p>
            <a:pPr marL="0" indent="0">
              <a:buNone/>
            </a:pPr>
            <a:endParaRPr lang="en-SG" dirty="0">
              <a:latin typeface="Bell MT" panose="020205030603050203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165" y="3575807"/>
            <a:ext cx="3101609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4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7175"/>
            <a:ext cx="10515600" cy="899132"/>
          </a:xfrm>
        </p:spPr>
        <p:txBody>
          <a:bodyPr/>
          <a:lstStyle/>
          <a:p>
            <a:r>
              <a:rPr lang="en-US" dirty="0" smtClean="0">
                <a:latin typeface="Bell MT" panose="02020503060305020303" pitchFamily="18" charset="0"/>
              </a:rPr>
              <a:t>User Persona(s):</a:t>
            </a:r>
            <a:endParaRPr lang="en-SG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91478"/>
            <a:ext cx="5181600" cy="478548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Californian FB" panose="0207040306080B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SG"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318701"/>
            <a:ext cx="21833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fornian FB" panose="0207040306080B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4345" y="1256307"/>
            <a:ext cx="5181599" cy="5216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898497" y="245695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874641" y="1498979"/>
            <a:ext cx="5121303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fornian FB" panose="0207040306080B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Persona 1:</a:t>
            </a:r>
            <a:r>
              <a:rPr kumimoji="0" lang="en-US" altLang="en-US" sz="15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Frequent </a:t>
            </a:r>
            <a:r>
              <a:rPr kumimoji="0" lang="en-US" altLang="en-US" sz="1500" b="1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Traveller</a:t>
            </a:r>
            <a:endParaRPr kumimoji="0" lang="en-US" altLang="en-US" sz="1500" b="1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Name: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Dinesh Kumar.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Age: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31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Occupation: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Principal Engineer, Software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Location: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Singapore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Travel Pattern: </a:t>
            </a:r>
            <a:r>
              <a:rPr lang="en-US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2-3 work trips/month, 1 family vacation/quarter</a:t>
            </a:r>
            <a:br>
              <a:rPr lang="en-US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</a:br>
            <a:endParaRPr lang="en-US" altLang="en-US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Statement: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“</a:t>
            </a:r>
            <a:r>
              <a:rPr lang="en-US" sz="1200" i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I shouldn’t have to waste </a:t>
            </a:r>
            <a:r>
              <a:rPr lang="en-US" sz="1200" i="1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a day before </a:t>
            </a:r>
            <a:r>
              <a:rPr lang="en-US" sz="1200" i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every trip trying to remember what to </a:t>
            </a:r>
            <a:r>
              <a:rPr lang="en-US" sz="1200" i="1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pack and last-min checklist hangs me”.</a:t>
            </a:r>
            <a:endParaRPr lang="en-US" altLang="en-US" sz="1200" i="1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Goals: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Pack 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efficiently without forgetting </a:t>
            </a: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essentials.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Avoid over packing.</a:t>
            </a:r>
            <a:endParaRPr lang="en-SG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lvl="0"/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Pain point:</a:t>
            </a:r>
            <a:r>
              <a:rPr kumimoji="0" lang="en-US" altLang="en-US" sz="1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Forgets 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items (chargers, documents, </a:t>
            </a: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medication),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Hates 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last-minute </a:t>
            </a: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packing.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Uses 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messy, static lists in Notes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25871" y="1256307"/>
            <a:ext cx="5391087" cy="5216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TextBox 23"/>
          <p:cNvSpPr txBox="1"/>
          <p:nvPr/>
        </p:nvSpPr>
        <p:spPr>
          <a:xfrm flipH="1">
            <a:off x="6249727" y="1486761"/>
            <a:ext cx="5444759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500" b="1" dirty="0" smtClean="0"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User Persona 2: </a:t>
            </a:r>
            <a:r>
              <a:rPr lang="en-SG" sz="1500" b="1" dirty="0"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Leisure </a:t>
            </a:r>
            <a:r>
              <a:rPr lang="en-SG" sz="1500" b="1" dirty="0" smtClean="0"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Traveller</a:t>
            </a:r>
            <a:endParaRPr lang="en-SG" sz="1500" b="1" dirty="0">
              <a:latin typeface="Book Antiqua" panose="0204060205030503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b="1" dirty="0" smtClean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1200" b="1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Name</a:t>
            </a:r>
            <a:r>
              <a:rPr lang="en-SG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: </a:t>
            </a:r>
            <a:r>
              <a:rPr lang="en-SG" sz="1200" dirty="0" err="1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Felci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Joan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b="1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Age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: 29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b="1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Occupation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: </a:t>
            </a:r>
            <a:r>
              <a:rPr lang="en-SG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Homemaker</a:t>
            </a:r>
            <a:endParaRPr lang="en-SG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b="1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Location</a:t>
            </a: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: Singapore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b="1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Travel Pattern: </a:t>
            </a:r>
            <a:r>
              <a:rPr lang="en-US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6 months </a:t>
            </a:r>
            <a:r>
              <a:rPr lang="en-US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once, Married with kid.</a:t>
            </a:r>
            <a:endParaRPr lang="en-SG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1200" b="1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Statement</a:t>
            </a:r>
            <a:r>
              <a:rPr lang="en-SG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: </a:t>
            </a:r>
            <a:r>
              <a:rPr lang="en-SG" sz="1200" i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“</a:t>
            </a:r>
            <a:r>
              <a:rPr lang="en-US" sz="1200" i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I shouldn’t have to waste 2-3 days before every trip </a:t>
            </a:r>
            <a:endParaRPr lang="en-US" sz="1200" i="1" dirty="0" smtClean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i="1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trying </a:t>
            </a:r>
            <a:r>
              <a:rPr lang="en-US" sz="1200" i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to remember what to pack and buy for my family while flying back to </a:t>
            </a:r>
            <a:r>
              <a:rPr lang="en-US" sz="1200" i="1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Singapore  and sometimes hard to recollect what I need in SG.”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Goals: </a:t>
            </a:r>
            <a:endParaRPr lang="en-SG" sz="1200" b="1" dirty="0" smtClean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Save </a:t>
            </a:r>
            <a:r>
              <a:rPr lang="en-US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time before </a:t>
            </a:r>
            <a:r>
              <a:rPr lang="en-US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trips.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Create a complete family packing list with essentials for all members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 Avoid last-minute packing stress and forgotten items</a:t>
            </a:r>
            <a:endParaRPr lang="en-US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1200" b="1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Pain Point</a:t>
            </a:r>
            <a:r>
              <a:rPr lang="en-SG" sz="1200" b="1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: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Doesn’t </a:t>
            </a:r>
            <a:r>
              <a:rPr lang="en-US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have time to manually create </a:t>
            </a:r>
            <a:r>
              <a:rPr lang="en-US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lists.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Existing </a:t>
            </a:r>
            <a:r>
              <a:rPr lang="en-US" sz="1200" dirty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apps are not dynamic (no weather or activity-specific </a:t>
            </a:r>
            <a:r>
              <a:rPr lang="en-US" sz="1200" dirty="0" smtClean="0">
                <a:latin typeface="Leelawadee UI" panose="020B0502040204020203" pitchFamily="34" charset="-34"/>
                <a:ea typeface="Times New Roman" panose="02020603050405020304" pitchFamily="18" charset="0"/>
                <a:cs typeface="Leelawadee UI" panose="020B0502040204020203" pitchFamily="34" charset="-34"/>
              </a:rPr>
              <a:t>suggestions, cross verify my needed list)</a:t>
            </a:r>
            <a:endParaRPr lang="en-SG" sz="1200" dirty="0">
              <a:latin typeface="Leelawadee UI" panose="020B0502040204020203" pitchFamily="34" charset="-34"/>
              <a:ea typeface="Times New Roman" panose="02020603050405020304" pitchFamily="18" charset="0"/>
              <a:cs typeface="Leelawadee UI" panose="020B0502040204020203" pitchFamily="34" charset="-3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0450" t="1" r="9681" b="3325"/>
          <a:stretch/>
        </p:blipFill>
        <p:spPr>
          <a:xfrm>
            <a:off x="4285753" y="1613482"/>
            <a:ext cx="1375576" cy="13864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130" y="1716988"/>
            <a:ext cx="1718908" cy="193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1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1001864"/>
            <a:ext cx="10928214" cy="6927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- </a:t>
            </a:r>
            <a:r>
              <a:rPr lang="en-US" sz="2000" dirty="0">
                <a:latin typeface="Goudy Old Style" panose="02020502050305020303" pitchFamily="18" charset="0"/>
              </a:rPr>
              <a:t>User Reviews of apps like </a:t>
            </a:r>
            <a:r>
              <a:rPr lang="en-US" sz="2000" dirty="0" smtClean="0">
                <a:latin typeface="Goudy Old Style" panose="02020502050305020303" pitchFamily="18" charset="0"/>
              </a:rPr>
              <a:t>Pack Point </a:t>
            </a:r>
            <a:r>
              <a:rPr lang="en-US" sz="2000" dirty="0">
                <a:latin typeface="Goudy Old Style" panose="02020502050305020303" pitchFamily="18" charset="0"/>
              </a:rPr>
              <a:t>and Packing Pro highlight limitations such as poor customization, lack of intelligent recommendations, or outdated UX.</a:t>
            </a:r>
            <a:br>
              <a:rPr lang="en-US" sz="2000" dirty="0">
                <a:latin typeface="Goudy Old Style" panose="02020502050305020303" pitchFamily="18" charset="0"/>
              </a:rPr>
            </a:br>
            <a:endParaRPr lang="en-US" sz="2000" dirty="0">
              <a:latin typeface="Goudy Old Style" panose="020205020503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Goudy Old Style" panose="02020502050305020303" pitchFamily="18" charset="0"/>
              </a:rPr>
              <a:t>- Online forums (e.g., </a:t>
            </a:r>
            <a:r>
              <a:rPr lang="en-US" sz="2000" dirty="0" err="1">
                <a:latin typeface="Goudy Old Style" panose="02020502050305020303" pitchFamily="18" charset="0"/>
              </a:rPr>
              <a:t>Reddit</a:t>
            </a:r>
            <a:r>
              <a:rPr lang="en-US" sz="2000" dirty="0">
                <a:latin typeface="Goudy Old Style" panose="02020502050305020303" pitchFamily="18" charset="0"/>
              </a:rPr>
              <a:t> r/travel, TripAdvisor) frequently feature packing-related concerns like “what to bring,” “packing checklist help,” or “forgot </a:t>
            </a:r>
            <a:r>
              <a:rPr lang="en-US" sz="2000" dirty="0" smtClean="0">
                <a:latin typeface="Goudy Old Style" panose="02020502050305020303" pitchFamily="18" charset="0"/>
              </a:rPr>
              <a:t>thing </a:t>
            </a:r>
            <a:r>
              <a:rPr lang="en-US" sz="2000" dirty="0">
                <a:latin typeface="Goudy Old Style" panose="02020502050305020303" pitchFamily="18" charset="0"/>
              </a:rPr>
              <a:t>on my trip.”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Goudy Old Style" panose="02020502050305020303" pitchFamily="18" charset="0"/>
              </a:rPr>
              <a:t/>
            </a:r>
            <a:br>
              <a:rPr lang="en-US" sz="2000" dirty="0">
                <a:latin typeface="Goudy Old Style" panose="02020502050305020303" pitchFamily="18" charset="0"/>
              </a:rPr>
            </a:br>
            <a:r>
              <a:rPr lang="en-US" sz="2000" dirty="0" smtClean="0">
                <a:latin typeface="Goudy Old Style" panose="02020502050305020303" pitchFamily="18" charset="0"/>
              </a:rPr>
              <a:t>- Google Reviews - </a:t>
            </a:r>
            <a:r>
              <a:rPr lang="en-US" altLang="en-US" sz="2000" dirty="0" err="1">
                <a:latin typeface="Goudy Old Style" panose="02020502050305020303" pitchFamily="18" charset="0"/>
              </a:rPr>
              <a:t>PackPoint</a:t>
            </a:r>
            <a:r>
              <a:rPr lang="en-US" altLang="en-US" sz="2000" dirty="0">
                <a:latin typeface="Goudy Old Style" panose="02020502050305020303" pitchFamily="18" charset="0"/>
              </a:rPr>
              <a:t> (Google Play/App </a:t>
            </a:r>
            <a:r>
              <a:rPr lang="en-US" altLang="en-US" sz="2000" dirty="0" smtClean="0">
                <a:latin typeface="Goudy Old Style" panose="02020502050305020303" pitchFamily="18" charset="0"/>
              </a:rPr>
              <a:t>Store) -3.8 </a:t>
            </a:r>
            <a:r>
              <a:rPr lang="en-US" altLang="en-US" sz="2000" dirty="0">
                <a:latin typeface="Goudy Old Style" panose="02020502050305020303" pitchFamily="18" charset="0"/>
              </a:rPr>
              <a:t>to 4.5 stars — with complaints like: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Goudy Old Style" panose="02020502050305020303" pitchFamily="18" charset="0"/>
              </a:rPr>
              <a:t>“List is too generic</a:t>
            </a:r>
            <a:r>
              <a:rPr lang="en-US" altLang="en-US" sz="2000" dirty="0" smtClean="0">
                <a:latin typeface="Goudy Old Style" panose="02020502050305020303" pitchFamily="18" charset="0"/>
              </a:rPr>
              <a:t>.”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Goudy Old Style" panose="02020502050305020303" pitchFamily="18" charset="0"/>
              </a:rPr>
              <a:t>“</a:t>
            </a:r>
            <a:r>
              <a:rPr lang="en-US" altLang="en-US" sz="2000" dirty="0">
                <a:latin typeface="Goudy Old Style" panose="02020502050305020303" pitchFamily="18" charset="0"/>
              </a:rPr>
              <a:t>Doesn’t account for weather properly</a:t>
            </a:r>
            <a:r>
              <a:rPr lang="en-US" altLang="en-US" sz="2000" dirty="0" smtClean="0">
                <a:latin typeface="Goudy Old Style" panose="02020502050305020303" pitchFamily="18" charset="0"/>
              </a:rPr>
              <a:t>.”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Goudy Old Style" panose="02020502050305020303" pitchFamily="18" charset="0"/>
              </a:rPr>
              <a:t>“</a:t>
            </a:r>
            <a:r>
              <a:rPr lang="en-US" altLang="en-US" sz="2000" dirty="0">
                <a:latin typeface="Goudy Old Style" panose="02020502050305020303" pitchFamily="18" charset="0"/>
              </a:rPr>
              <a:t>Too many ads for basic functionality.”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2000" dirty="0" smtClean="0">
                <a:latin typeface="Goudy Old Style" panose="02020502050305020303" pitchFamily="18" charset="0"/>
              </a:rPr>
              <a:t>Industry Reports: </a:t>
            </a:r>
            <a:r>
              <a:rPr lang="en-US" sz="2000" b="1" dirty="0" smtClean="0">
                <a:latin typeface="Goudy Old Style" panose="02020502050305020303" pitchFamily="18" charset="0"/>
              </a:rPr>
              <a:t>McKinsey </a:t>
            </a:r>
            <a:r>
              <a:rPr lang="en-US" sz="2000" b="1" dirty="0">
                <a:latin typeface="Goudy Old Style" panose="02020502050305020303" pitchFamily="18" charset="0"/>
              </a:rPr>
              <a:t>Travel </a:t>
            </a:r>
            <a:r>
              <a:rPr lang="en-US" sz="2000" b="1" dirty="0" smtClean="0">
                <a:latin typeface="Goudy Old Style" panose="02020502050305020303" pitchFamily="18" charset="0"/>
              </a:rPr>
              <a:t>Insights: </a:t>
            </a:r>
            <a:r>
              <a:rPr lang="en-US" sz="2000" dirty="0" smtClean="0">
                <a:latin typeface="Goudy Old Style" panose="02020502050305020303" pitchFamily="18" charset="0"/>
              </a:rPr>
              <a:t>”Travelers </a:t>
            </a:r>
            <a:r>
              <a:rPr lang="en-US" sz="2000" dirty="0">
                <a:latin typeface="Goudy Old Style" panose="02020502050305020303" pitchFamily="18" charset="0"/>
              </a:rPr>
              <a:t>are returning, but friction in travel </a:t>
            </a:r>
            <a:r>
              <a:rPr lang="en-US" sz="2000" dirty="0" smtClean="0">
                <a:latin typeface="Goudy Old Style" panose="02020502050305020303" pitchFamily="18" charset="0"/>
              </a:rPr>
              <a:t>planning —</a:t>
            </a:r>
            <a:r>
              <a:rPr lang="en-US" sz="2000" dirty="0">
                <a:latin typeface="Goudy Old Style" panose="02020502050305020303" pitchFamily="18" charset="0"/>
              </a:rPr>
              <a:t>including packing—is a growing pain point</a:t>
            </a:r>
            <a:r>
              <a:rPr lang="en-US" sz="2000" dirty="0" smtClean="0">
                <a:latin typeface="Goudy Old Style" panose="02020502050305020303" pitchFamily="18" charset="0"/>
              </a:rPr>
              <a:t>.”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Goudy Old Style" panose="02020502050305020303" pitchFamily="18" charset="0"/>
              </a:rPr>
              <a:t/>
            </a:r>
            <a:br>
              <a:rPr lang="en-US" sz="2000" dirty="0">
                <a:latin typeface="Goudy Old Style" panose="02020502050305020303" pitchFamily="18" charset="0"/>
              </a:rPr>
            </a:br>
            <a:r>
              <a:rPr lang="en-US" sz="2000" dirty="0">
                <a:latin typeface="Goudy Old Style" panose="02020502050305020303" pitchFamily="18" charset="0"/>
              </a:rPr>
              <a:t>- Interviews with 5 frequent flyers revealed:</a:t>
            </a:r>
            <a:br>
              <a:rPr lang="en-US" sz="2000" dirty="0">
                <a:latin typeface="Goudy Old Style" panose="02020502050305020303" pitchFamily="18" charset="0"/>
              </a:rPr>
            </a:br>
            <a:r>
              <a:rPr lang="en-US" sz="2000" dirty="0">
                <a:latin typeface="Goudy Old Style" panose="02020502050305020303" pitchFamily="18" charset="0"/>
              </a:rPr>
              <a:t>  - 4 of 5 use Notes or spreadsheets for packing</a:t>
            </a:r>
            <a:br>
              <a:rPr lang="en-US" sz="2000" dirty="0">
                <a:latin typeface="Goudy Old Style" panose="02020502050305020303" pitchFamily="18" charset="0"/>
              </a:rPr>
            </a:br>
            <a:r>
              <a:rPr lang="en-US" sz="2000" dirty="0">
                <a:latin typeface="Goudy Old Style" panose="02020502050305020303" pitchFamily="18" charset="0"/>
              </a:rPr>
              <a:t>  - 3 of 5 forgot items in the last 6 months</a:t>
            </a:r>
            <a:br>
              <a:rPr lang="en-US" sz="2000" dirty="0">
                <a:latin typeface="Goudy Old Style" panose="02020502050305020303" pitchFamily="18" charset="0"/>
              </a:rPr>
            </a:br>
            <a:r>
              <a:rPr lang="en-US" sz="2000" dirty="0">
                <a:latin typeface="Goudy Old Style" panose="02020502050305020303" pitchFamily="18" charset="0"/>
              </a:rPr>
              <a:t>  - 100% would try an app that saved packing time intelligently</a:t>
            </a:r>
            <a:endParaRPr lang="en-SG" sz="2000" dirty="0">
              <a:latin typeface="Goudy Old Style" panose="020205020503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11271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28123" cy="762000"/>
          </a:xfrm>
        </p:spPr>
        <p:txBody>
          <a:bodyPr>
            <a:noAutofit/>
          </a:bodyPr>
          <a:lstStyle/>
          <a:p>
            <a:r>
              <a:rPr lang="en-SG" dirty="0">
                <a:latin typeface="Bell MT" panose="02020503060305020303" pitchFamily="18" charset="0"/>
              </a:rPr>
              <a:t>Evidence of the real problem: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344" y="4740286"/>
            <a:ext cx="2352070" cy="184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5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Bell MT" panose="02020503060305020303" pitchFamily="18" charset="0"/>
              </a:rPr>
              <a:t>Brief Description :</a:t>
            </a:r>
            <a:endParaRPr lang="en-SG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882" y="1308600"/>
            <a:ext cx="10515600" cy="5075750"/>
          </a:xfrm>
        </p:spPr>
        <p:txBody>
          <a:bodyPr>
            <a:norm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SG" sz="2800" dirty="0" smtClean="0"/>
              <a:t> 	</a:t>
            </a:r>
            <a:r>
              <a:rPr lang="en-US" sz="2800" b="1" dirty="0" smtClean="0">
                <a:latin typeface="Goudy Old Style" panose="02020502050305020303" pitchFamily="18" charset="0"/>
              </a:rPr>
              <a:t>PackBuddy</a:t>
            </a:r>
            <a:r>
              <a:rPr lang="en-US" sz="2800" dirty="0" smtClean="0">
                <a:latin typeface="Goudy Old Style" panose="02020502050305020303" pitchFamily="18" charset="0"/>
              </a:rPr>
              <a:t> </a:t>
            </a:r>
            <a:r>
              <a:rPr lang="en-US" sz="2800" dirty="0">
                <a:latin typeface="Goudy Old Style" panose="02020502050305020303" pitchFamily="18" charset="0"/>
              </a:rPr>
              <a:t>is a smart packing assistant app </a:t>
            </a:r>
            <a:r>
              <a:rPr lang="en-US" sz="2800" dirty="0" smtClean="0">
                <a:latin typeface="Goudy Old Style" panose="02020502050305020303" pitchFamily="18" charset="0"/>
              </a:rPr>
              <a:t>with AI assist that </a:t>
            </a:r>
            <a:r>
              <a:rPr lang="en-US" sz="2800" dirty="0">
                <a:latin typeface="Goudy Old Style" panose="02020502050305020303" pitchFamily="18" charset="0"/>
              </a:rPr>
              <a:t>generates personalized packing checklists based on destination, weather, trip duration, and activities.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Goudy Old Style" panose="02020502050305020303" pitchFamily="18" charset="0"/>
              </a:rPr>
              <a:t>	It </a:t>
            </a:r>
            <a:r>
              <a:rPr lang="en-US" sz="2800" dirty="0">
                <a:latin typeface="Goudy Old Style" panose="02020502050305020303" pitchFamily="18" charset="0"/>
              </a:rPr>
              <a:t>also enables users to save templates, set reminders, </a:t>
            </a:r>
            <a:r>
              <a:rPr lang="en-US" sz="2800" dirty="0" smtClean="0">
                <a:latin typeface="Goudy Old Style" panose="02020502050305020303" pitchFamily="18" charset="0"/>
              </a:rPr>
              <a:t>share &amp; access to others and </a:t>
            </a:r>
            <a:r>
              <a:rPr lang="en-US" sz="2800" dirty="0">
                <a:latin typeface="Goudy Old Style" panose="02020502050305020303" pitchFamily="18" charset="0"/>
              </a:rPr>
              <a:t>sync with </a:t>
            </a:r>
            <a:r>
              <a:rPr lang="en-US" sz="2800" dirty="0" smtClean="0">
                <a:latin typeface="Goudy Old Style" panose="02020502050305020303" pitchFamily="18" charset="0"/>
              </a:rPr>
              <a:t>offline &amp; travel calendars.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Goudy Old Style" panose="02020502050305020303" pitchFamily="18" charset="0"/>
              </a:rPr>
              <a:t>	</a:t>
            </a:r>
            <a:r>
              <a:rPr lang="en-US" sz="2800" dirty="0" smtClean="0">
                <a:latin typeface="Goudy Old Style" panose="02020502050305020303" pitchFamily="18" charset="0"/>
              </a:rPr>
              <a:t>Get a AI Assist (on premium feature).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SG" dirty="0">
              <a:latin typeface="Goudy Old Style" panose="02020502050305020303" pitchFamily="18" charset="0"/>
            </a:endParaRPr>
          </a:p>
          <a:p>
            <a:pPr marL="0" lvl="0" indent="0">
              <a:buNone/>
            </a:pPr>
            <a:endParaRPr lang="en-SG" sz="1600" dirty="0">
              <a:latin typeface="Goudy Old Style" panose="020205020503050203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819" y="3904090"/>
            <a:ext cx="3290572" cy="248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0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ell MT" panose="02020503060305020303" pitchFamily="18" charset="0"/>
              </a:rPr>
              <a:t>Flow Chart:</a:t>
            </a:r>
            <a:endParaRPr lang="en-SG" dirty="0">
              <a:latin typeface="Bell MT" panose="020205030603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534" y="365124"/>
            <a:ext cx="5009566" cy="61947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H="1">
            <a:off x="954156" y="1630016"/>
            <a:ext cx="489005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Bell MT" panose="02020503060305020303" pitchFamily="18" charset="0"/>
              </a:rPr>
              <a:t>Users will be able to</a:t>
            </a:r>
            <a:r>
              <a:rPr lang="en-SG" b="1" dirty="0" smtClean="0">
                <a:latin typeface="Bell MT" panose="02020503060305020303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Sync the Calendar.</a:t>
            </a:r>
            <a:endParaRPr lang="en-SG" dirty="0">
              <a:latin typeface="Goudy Old Style" panose="0202050205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Goudy Old Style" panose="02020502050305020303" pitchFamily="18" charset="0"/>
              </a:rPr>
              <a:t>Customized the packing list(Add new items)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Goudy Old Style" panose="02020502050305020303" pitchFamily="18" charset="0"/>
              </a:rPr>
              <a:t>Get suggestions from AI assist(</a:t>
            </a:r>
            <a:r>
              <a:rPr lang="en-US" dirty="0" err="1" smtClean="0">
                <a:latin typeface="Goudy Old Style" panose="02020502050305020303" pitchFamily="18" charset="0"/>
              </a:rPr>
              <a:t>i.e</a:t>
            </a:r>
            <a:r>
              <a:rPr lang="en-US" dirty="0" smtClean="0">
                <a:latin typeface="Goudy Old Style" panose="02020502050305020303" pitchFamily="18" charset="0"/>
              </a:rPr>
              <a:t> Things/clothes needed for the destination)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Goudy Old Style" panose="02020502050305020303" pitchFamily="18" charset="0"/>
              </a:rPr>
              <a:t>Share / Download the list &amp; Save for future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Goudy Old Style" panose="02020502050305020303" pitchFamily="18" charset="0"/>
              </a:rPr>
              <a:t>For Family trip the list can be accessibly by other via sharing link.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Goudy Old Style" panose="02020502050305020303" pitchFamily="18" charset="0"/>
              </a:rPr>
              <a:t>Set reminders.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Rich &amp; </a:t>
            </a:r>
            <a:r>
              <a:rPr lang="en-US" dirty="0" smtClean="0">
                <a:latin typeface="Goudy Old Style" panose="02020502050305020303" pitchFamily="18" charset="0"/>
              </a:rPr>
              <a:t>Convenient UI.</a:t>
            </a:r>
            <a:endParaRPr lang="en-US" dirty="0">
              <a:latin typeface="Goudy Old Style" panose="02020502050305020303" pitchFamily="18" charset="0"/>
            </a:endParaRPr>
          </a:p>
          <a:p>
            <a:endParaRPr lang="en-US" dirty="0" smtClean="0">
              <a:latin typeface="Goudy Old Style" panose="02020502050305020303" pitchFamily="18" charset="0"/>
            </a:endParaRPr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2004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638" y="110807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>
                <a:latin typeface="Bell MT" panose="02020503060305020303" pitchFamily="18" charset="0"/>
              </a:rPr>
              <a:t>Value Proposition Canvas: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6" b="4576"/>
          <a:stretch/>
        </p:blipFill>
        <p:spPr>
          <a:xfrm>
            <a:off x="995238" y="1351722"/>
            <a:ext cx="10058400" cy="427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6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23" y="275303"/>
            <a:ext cx="10545160" cy="658762"/>
          </a:xfrm>
        </p:spPr>
        <p:txBody>
          <a:bodyPr>
            <a:no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Test Plan:</a:t>
            </a:r>
            <a:endParaRPr lang="en-SG" dirty="0">
              <a:latin typeface="Bell MT" panose="02020503060305020303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60439" y="2918460"/>
            <a:ext cx="163619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lang="en-US" altLang="en-US" sz="1200" dirty="0"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lang="en-US" altLang="en-US" sz="1200" dirty="0"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58742" y="1275080"/>
            <a:ext cx="4635611" cy="24330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/>
          <p:cNvSpPr txBox="1"/>
          <p:nvPr/>
        </p:nvSpPr>
        <p:spPr>
          <a:xfrm>
            <a:off x="930303" y="1275080"/>
            <a:ext cx="45640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Validation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Goal</a:t>
            </a:r>
            <a:r>
              <a:rPr lang="en-US" dirty="0"/>
              <a:t>: Validate pain point, Prioritize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Method: User interviews (10 travelers), Google Form survey with mockups.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 Metric: 80%+ express frustration with packing &amp; Top 3 features selected by 70%+.</a:t>
            </a:r>
            <a:br>
              <a:rPr lang="en-US" dirty="0"/>
            </a:br>
            <a:endParaRPr lang="en-SG" dirty="0"/>
          </a:p>
        </p:txBody>
      </p:sp>
      <p:sp>
        <p:nvSpPr>
          <p:cNvPr id="8" name="Rectangle 7"/>
          <p:cNvSpPr/>
          <p:nvPr/>
        </p:nvSpPr>
        <p:spPr>
          <a:xfrm>
            <a:off x="6451441" y="1250570"/>
            <a:ext cx="4579952" cy="24821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/>
          <p:cNvSpPr txBox="1"/>
          <p:nvPr/>
        </p:nvSpPr>
        <p:spPr>
          <a:xfrm>
            <a:off x="6459391" y="1275080"/>
            <a:ext cx="45720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Functional &amp; Tech Testing: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Test MVP </a:t>
            </a:r>
            <a:r>
              <a:rPr lang="en-US" dirty="0" smtClean="0"/>
              <a:t>usability,</a:t>
            </a:r>
            <a:r>
              <a:rPr lang="en-US" dirty="0"/>
              <a:t> Feature validation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Method</a:t>
            </a:r>
            <a:r>
              <a:rPr lang="en-US" dirty="0"/>
              <a:t>: In-app feedback and surveys </a:t>
            </a:r>
            <a:r>
              <a:rPr lang="en-US" dirty="0" smtClean="0"/>
              <a:t>,1-week </a:t>
            </a:r>
            <a:r>
              <a:rPr lang="en-US" dirty="0"/>
              <a:t>beta with 25 </a:t>
            </a:r>
            <a:r>
              <a:rPr lang="en-US" dirty="0" smtClean="0"/>
              <a:t>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Success </a:t>
            </a:r>
            <a:r>
              <a:rPr lang="en-US" dirty="0"/>
              <a:t>Metric: 90% complete packing list successfully</a:t>
            </a:r>
            <a:br>
              <a:rPr lang="en-US" dirty="0"/>
            </a:br>
            <a:endParaRPr lang="en-SG" dirty="0"/>
          </a:p>
        </p:txBody>
      </p:sp>
      <p:sp>
        <p:nvSpPr>
          <p:cNvPr id="10" name="Rectangle 9"/>
          <p:cNvSpPr/>
          <p:nvPr/>
        </p:nvSpPr>
        <p:spPr>
          <a:xfrm>
            <a:off x="3641697" y="4269850"/>
            <a:ext cx="4572000" cy="2313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/>
          <p:cNvSpPr txBox="1"/>
          <p:nvPr/>
        </p:nvSpPr>
        <p:spPr>
          <a:xfrm>
            <a:off x="3737114" y="4349364"/>
            <a:ext cx="4285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Enhancement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</a:t>
            </a:r>
            <a:r>
              <a:rPr lang="en-US" dirty="0" smtClean="0"/>
              <a:t>: </a:t>
            </a:r>
            <a:r>
              <a:rPr lang="en-US" dirty="0"/>
              <a:t>Freemium vs Premium </a:t>
            </a:r>
            <a:r>
              <a:rPr lang="en-US" dirty="0" smtClean="0"/>
              <a:t>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Method:, </a:t>
            </a:r>
            <a:r>
              <a:rPr lang="en-US" dirty="0"/>
              <a:t>A/B test AI packing </a:t>
            </a:r>
            <a:r>
              <a:rPr lang="en-US" dirty="0" smtClean="0"/>
              <a:t>suggestions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Success </a:t>
            </a:r>
            <a:r>
              <a:rPr lang="en-US" dirty="0"/>
              <a:t>Metric: 80%+ rate usefulness ≥ 4/5</a:t>
            </a:r>
            <a:endParaRPr lang="en-SG" dirty="0"/>
          </a:p>
          <a:p>
            <a:r>
              <a:rPr lang="en-US" dirty="0"/>
              <a:t/>
            </a:r>
            <a:br>
              <a:rPr lang="en-US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723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257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Bahnschrift SemiLight</vt:lpstr>
      <vt:lpstr>Bell MT</vt:lpstr>
      <vt:lpstr>Book Antiqua</vt:lpstr>
      <vt:lpstr>Calibri</vt:lpstr>
      <vt:lpstr>Calibri Light</vt:lpstr>
      <vt:lpstr>Californian FB</vt:lpstr>
      <vt:lpstr>Goudy Old Style</vt:lpstr>
      <vt:lpstr>Leelawadee UI</vt:lpstr>
      <vt:lpstr>Times New Roman</vt:lpstr>
      <vt:lpstr>Office Theme</vt:lpstr>
      <vt:lpstr>Project 1 - Product Thinking</vt:lpstr>
      <vt:lpstr>Problem Statement:</vt:lpstr>
      <vt:lpstr>User Persona(s):</vt:lpstr>
      <vt:lpstr>Evidence of the real problem:</vt:lpstr>
      <vt:lpstr>Brief Description :</vt:lpstr>
      <vt:lpstr>Flow Chart:</vt:lpstr>
      <vt:lpstr>Value Proposition Canvas:</vt:lpstr>
      <vt:lpstr>Test Plan: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1 - Product Thinking</dc:title>
  <dc:creator>Dinesh kumar Arul Maran</dc:creator>
  <cp:lastModifiedBy>Dinesh kumar Arul Maran</cp:lastModifiedBy>
  <cp:revision>49</cp:revision>
  <dcterms:created xsi:type="dcterms:W3CDTF">2025-07-25T09:18:49Z</dcterms:created>
  <dcterms:modified xsi:type="dcterms:W3CDTF">2025-07-26T09:12:08Z</dcterms:modified>
</cp:coreProperties>
</file>